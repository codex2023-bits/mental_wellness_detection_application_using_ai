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488266-AB30-489C-9D2E-54BA9A88B331}">
  <a:tblStyle styleId="{36488266-AB30-489C-9D2E-54BA9A88B3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a69ffb2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aa69ffb2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aa69ffb2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a4145b59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a4145b59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ca4145b59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a69ffb2f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aa69ffb2f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aa69ffb2f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aa69ffb2f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aa69ffb2f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aa69ffb2f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ho.int/publications/i/item/9789240003927" TargetMode="External"/><Relationship Id="rId4" Type="http://schemas.openxmlformats.org/officeDocument/2006/relationships/hyperlink" Target="https://www.sciencedirect.com/science/article/pii/S2215016125006004" TargetMode="External"/><Relationship Id="rId5" Type="http://schemas.openxmlformats.org/officeDocument/2006/relationships/hyperlink" Target="https://arxiv.org/html/2401.02984v3#S2" TargetMode="External"/><Relationship Id="rId6" Type="http://schemas.openxmlformats.org/officeDocument/2006/relationships/hyperlink" Target="https://scholar.google.co.uk/scholar?oi=bibs&amp;cluster=10971101389699007585&amp;btnI=1&amp;hl=en" TargetMode="External"/><Relationship Id="rId7" Type="http://schemas.openxmlformats.org/officeDocument/2006/relationships/hyperlink" Target="https://render.com/docs/docker?_gl=1*a5jdto*_gcl_au*MTY0NzE3NDAzMy4xNzcxODIyMjUz*_ga*MzQ2MjQ0OTY4LjE3NzE1MTcwMzE.*_ga_QK9L9QJC5N*czE3NzE4MjIyNTQkbzEwJGcwJHQxNzcxODIyMjU0JGo2MCRsMCRoMA..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-1000125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838200" y="990235"/>
            <a:ext cx="10515600" cy="51933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500" u="none" strike="noStrike">
                <a:solidFill>
                  <a:srgbClr val="548135"/>
                </a:solidFill>
                <a:latin typeface="Cambria"/>
                <a:ea typeface="Cambria"/>
                <a:cs typeface="Cambria"/>
                <a:sym typeface="Cambria"/>
              </a:rPr>
              <a:t>PROBLEM STATEMENT </a:t>
            </a:r>
            <a:endParaRPr sz="2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In the modern digital era, individuals frequently face stress and mental health challenges but often lack accessible, private, and real-time tools to monitor their psychological well-being. Existing solutions are often fragmented, require expensive subscriptions, or compromise user privacy by storing sensitive emotional data on external servers. Furthermore, many general-purpose health apps lack the specific integration of local Artificial Intelligence (AI) to provide immediate, context-aware feedback without relying on high-latency cloud APIs.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latin typeface="Cambria"/>
              <a:ea typeface="Cambria"/>
              <a:cs typeface="Cambria"/>
              <a:sym typeface="Cambria"/>
            </a:endParaRPr>
          </a:p>
          <a:p>
            <a:pPr indent="0" lvl="2" marL="9144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500">
              <a:latin typeface="Cambria"/>
              <a:ea typeface="Cambria"/>
              <a:cs typeface="Cambria"/>
              <a:sym typeface="Cambria"/>
            </a:endParaRPr>
          </a:p>
          <a:p>
            <a:pPr indent="-101600" lvl="2" marL="11430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 Problem Statement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This project aims to develop a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Mental Wellness Detection Application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—a secure, web-based platform that provides users with a centralized dashboard to track mental health metrics like mood, meditation progress, and personal wellness goals.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Key Objectives: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Privacy-First AI: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Utilizing local Large Language Models (LLMs) like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Tiny Llama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via Ollama to ensure user data processed for sentiment and wellness detection never leaves the local environment.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Robust Security: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Implementing strict session management and secure database authentication using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PostgreSQL/Supabase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to protect sensitive user profiles.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Scalable Architecture: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Moving from a local-only H2 database to a cloud-integrated production environment on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Render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, ensuring the application is accessible anytime, anywhere.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User-Centric Design: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Providing a personalized interface (JSP/Servlet based) that encourages consistent mental health tracking and goal setting.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101600" lvl="2" marL="1143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t/>
            </a:r>
            <a:endParaRPr b="1" sz="1800">
              <a:solidFill>
                <a:srgbClr val="54813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-360165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72"/>
              <a:buFont typeface="Cambria"/>
              <a:buChar char="❖"/>
            </a:pPr>
            <a:r>
              <a:rPr lang="en-US" sz="2071">
                <a:latin typeface="Cambria"/>
                <a:ea typeface="Cambria"/>
                <a:cs typeface="Cambria"/>
                <a:sym typeface="Cambria"/>
              </a:rPr>
              <a:t>JSP Application workflow</a:t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7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ARCHITECTURE OF PROJECT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900" y="1992600"/>
            <a:ext cx="7273750" cy="27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9845400" y="2617500"/>
            <a:ext cx="16677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 from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(BAAS platform)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9337125" y="2938050"/>
            <a:ext cx="4830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12050" y="18675"/>
            <a:ext cx="11616900" cy="6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0165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72"/>
              <a:buFont typeface="Cambria"/>
              <a:buChar char="❖"/>
            </a:pPr>
            <a:r>
              <a:rPr lang="en-US" sz="207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Jakarta EE Servlet</a:t>
            </a:r>
            <a:endParaRPr sz="207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7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7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7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7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0050"/>
            <a:ext cx="12192000" cy="6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838200" y="0"/>
            <a:ext cx="10515600" cy="112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sz="25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9" name="Google Shape;129;p18"/>
          <p:cNvGraphicFramePr/>
          <p:nvPr/>
        </p:nvGraphicFramePr>
        <p:xfrm>
          <a:off x="952500" y="1122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{36488266-AB30-489C-9D2E-54BA9A88B331}</a:tableStyleId>
              </a:tblPr>
              <a:tblGrid>
                <a:gridCol w="1438975"/>
                <a:gridCol w="5419025"/>
                <a:gridCol w="3429000"/>
              </a:tblGrid>
              <a:tr h="6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S.NO</a:t>
                      </a:r>
                      <a:endParaRPr sz="2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PUBLICATION DESCRIPTION AND AUTHOR</a:t>
                      </a:r>
                      <a:endParaRPr sz="2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REFERENCE LINK</a:t>
                      </a:r>
                      <a:endParaRPr sz="2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6843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Goal Of Application and the features derived by references from WHO site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  <a:hlinkClick r:id="rId3"/>
                        </a:rPr>
                        <a:t>LINK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6843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AI-powered mental health application with data privacy preservation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  <a:hlinkClick r:id="rId4"/>
                        </a:rPr>
                        <a:t>LINK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6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Large Language Models in Mental Health Care: A Scoping Review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  <a:hlinkClick r:id="rId5"/>
                        </a:rPr>
                        <a:t>LINK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6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Comparison of the performance of relational databases PostgreSQL and MySQL for desktop application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  <a:hlinkClick r:id="rId6"/>
                        </a:rPr>
                        <a:t>LINK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69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5.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Dockerizing the application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  <a:hlinkClick r:id="rId7"/>
                        </a:rPr>
                        <a:t>LINK</a:t>
                      </a:r>
                      <a:endParaRPr sz="2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8"/>
          <p:cNvSpPr txBox="1"/>
          <p:nvPr/>
        </p:nvSpPr>
        <p:spPr>
          <a:xfrm>
            <a:off x="6599475" y="6018975"/>
            <a:ext cx="53553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NOTE: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SURVEY WAS </a:t>
            </a: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CONDUCTED</a:t>
            </a: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FROM CREDIBLE SOURCES AND RESEARCH REFERENCES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ED A THANK YOU SLIDE DECORATIVE IN A PROFESSIONAL MANNER"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